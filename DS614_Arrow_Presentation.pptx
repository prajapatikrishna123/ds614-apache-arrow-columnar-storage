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File Size by Compression Mode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File Size (MB)</c:v>
                </c:pt>
              </c:strCache>
            </c:strRef>
          </c:tx>
          <c:spPr>
            <a:solidFill>
              <a:srgbClr val="1E6F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8D3-4752-86DD-E0B8F2456E50}"/>
              </c:ext>
            </c:extLst>
          </c:dPt>
          <c:dPt>
            <c:idx val="1"/>
            <c:invertIfNegative val="0"/>
            <c:bubble3D val="0"/>
            <c:spPr>
              <a:solidFill>
                <a:srgbClr val="23863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D3-4752-86DD-E0B8F2456E50}"/>
              </c:ext>
            </c:extLst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D3-4752-86DD-E0B8F2456E50}"/>
              </c:ext>
            </c:extLst>
          </c:dPt>
          <c:dPt>
            <c:idx val="3"/>
            <c:invertIfNegative val="0"/>
            <c:bubble3D val="0"/>
            <c:spPr>
              <a:solidFill>
                <a:srgbClr val="9CA3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8D3-4752-86DD-E0B8F2456E5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429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LZ4</c:v>
                </c:pt>
                <c:pt idx="2">
                  <c:v>Zstd</c:v>
                </c:pt>
                <c:pt idx="3">
                  <c:v>1-thread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0.9</c:v>
                </c:pt>
                <c:pt idx="2">
                  <c:v>0.7</c:v>
                </c:pt>
                <c:pt idx="3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8D3-4752-86DD-E0B8F2456E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38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73152" cy="2926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Arrow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Storage Format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772400" cy="13716"/>
          </a:xfrm>
          <a:prstGeom prst="rect">
            <a:avLst/>
          </a:prstGeom>
          <a:solidFill>
            <a:srgbClr val="333D47"/>
          </a:solidFill>
          <a:ln w="12700">
            <a:solidFill>
              <a:srgbClr val="333D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22224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DS614 — Big Data Engineering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Krishna Prajapati (202518024)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Manasi Patil (202518034)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3474720"/>
            <a:ext cx="548640" cy="1280160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0" y="3474720"/>
            <a:ext cx="548640" cy="128016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80960" y="3474720"/>
            <a:ext cx="548640" cy="12801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0" y="4800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3246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Layout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Arrow Solve?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840480" cy="274320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ROW-BASED (Traditional)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68680" cy="347472"/>
          </a:xfrm>
          <a:prstGeom prst="rect">
            <a:avLst/>
          </a:prstGeom>
          <a:solidFill>
            <a:srgbClr val="C8E6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868680" cy="347472"/>
          </a:xfrm>
          <a:prstGeom prst="rect">
            <a:avLst/>
          </a:prstGeom>
          <a:solidFill>
            <a:srgbClr val="C8E6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0972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097280"/>
            <a:ext cx="868680" cy="347472"/>
          </a:xfrm>
          <a:prstGeom prst="rect">
            <a:avLst/>
          </a:prstGeom>
          <a:solidFill>
            <a:srgbClr val="C8E6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0972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097280"/>
            <a:ext cx="868680" cy="347472"/>
          </a:xfrm>
          <a:prstGeom prst="rect">
            <a:avLst/>
          </a:prstGeom>
          <a:solidFill>
            <a:srgbClr val="C8E6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0972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481328"/>
            <a:ext cx="868680" cy="347472"/>
          </a:xfrm>
          <a:prstGeom prst="rect">
            <a:avLst/>
          </a:prstGeom>
          <a:solidFill>
            <a:srgbClr val="D1EAF8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813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88720" y="1481328"/>
            <a:ext cx="868680" cy="347472"/>
          </a:xfrm>
          <a:prstGeom prst="rect">
            <a:avLst/>
          </a:prstGeom>
          <a:solidFill>
            <a:srgbClr val="D1EAF8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4813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03120" y="1481328"/>
            <a:ext cx="868680" cy="347472"/>
          </a:xfrm>
          <a:prstGeom prst="rect">
            <a:avLst/>
          </a:prstGeom>
          <a:solidFill>
            <a:srgbClr val="D1EAF8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14813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17520" y="1481328"/>
            <a:ext cx="868680" cy="347472"/>
          </a:xfrm>
          <a:prstGeom prst="rect">
            <a:avLst/>
          </a:prstGeom>
          <a:solidFill>
            <a:srgbClr val="D1EAF8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148132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865376"/>
            <a:ext cx="868680" cy="347472"/>
          </a:xfrm>
          <a:prstGeom prst="rect">
            <a:avLst/>
          </a:prstGeom>
          <a:solidFill>
            <a:srgbClr val="BAE0F3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86537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88720" y="1865376"/>
            <a:ext cx="868680" cy="347472"/>
          </a:xfrm>
          <a:prstGeom prst="rect">
            <a:avLst/>
          </a:prstGeom>
          <a:solidFill>
            <a:srgbClr val="BAE0F3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186537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1865376"/>
            <a:ext cx="868680" cy="347472"/>
          </a:xfrm>
          <a:prstGeom prst="rect">
            <a:avLst/>
          </a:prstGeom>
          <a:solidFill>
            <a:srgbClr val="BAE0F3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186537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17520" y="1865376"/>
            <a:ext cx="868680" cy="347472"/>
          </a:xfrm>
          <a:prstGeom prst="rect">
            <a:avLst/>
          </a:prstGeom>
          <a:solidFill>
            <a:srgbClr val="BAE0F3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186537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2304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AVG(salary)? Must read ALL columns →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777240"/>
            <a:ext cx="3931920" cy="2743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(Arrow)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1097280"/>
            <a:ext cx="914400" cy="256032"/>
          </a:xfrm>
          <a:prstGeom prst="rect">
            <a:avLst/>
          </a:prstGeom>
          <a:solidFill>
            <a:srgbClr val="C8E6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097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1389888"/>
            <a:ext cx="914400" cy="310896"/>
          </a:xfrm>
          <a:prstGeom prst="rect">
            <a:avLst/>
          </a:prstGeom>
          <a:solidFill>
            <a:srgbClr val="D4EDDA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38988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1737360"/>
            <a:ext cx="914400" cy="310896"/>
          </a:xfrm>
          <a:prstGeom prst="rect">
            <a:avLst/>
          </a:prstGeom>
          <a:solidFill>
            <a:srgbClr val="D4EDDA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7373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084832"/>
            <a:ext cx="914400" cy="310896"/>
          </a:xfrm>
          <a:prstGeom prst="rect">
            <a:avLst/>
          </a:prstGeom>
          <a:solidFill>
            <a:srgbClr val="D4EDDA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0848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06440" y="1097280"/>
            <a:ext cx="914400" cy="256032"/>
          </a:xfrm>
          <a:prstGeom prst="rect">
            <a:avLst/>
          </a:prstGeom>
          <a:solidFill>
            <a:srgbClr val="C8E6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1097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06440" y="1389888"/>
            <a:ext cx="914400" cy="310896"/>
          </a:xfrm>
          <a:prstGeom prst="rect">
            <a:avLst/>
          </a:prstGeom>
          <a:solidFill>
            <a:srgbClr val="D0E8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138988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806440" y="1737360"/>
            <a:ext cx="914400" cy="310896"/>
          </a:xfrm>
          <a:prstGeom prst="rect">
            <a:avLst/>
          </a:prstGeom>
          <a:solidFill>
            <a:srgbClr val="D0E8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17373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06440" y="2084832"/>
            <a:ext cx="914400" cy="310896"/>
          </a:xfrm>
          <a:prstGeom prst="rect">
            <a:avLst/>
          </a:prstGeom>
          <a:solidFill>
            <a:srgbClr val="D0E8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20848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66560" y="1097280"/>
            <a:ext cx="914400" cy="256032"/>
          </a:xfrm>
          <a:prstGeom prst="rect">
            <a:avLst/>
          </a:prstGeom>
          <a:solidFill>
            <a:srgbClr val="FFA657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1097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66560" y="1389888"/>
            <a:ext cx="914400" cy="310896"/>
          </a:xfrm>
          <a:prstGeom prst="rect">
            <a:avLst/>
          </a:prstGeom>
          <a:solidFill>
            <a:srgbClr val="FFE8CC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138988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766560" y="1737360"/>
            <a:ext cx="914400" cy="310896"/>
          </a:xfrm>
          <a:prstGeom prst="rect">
            <a:avLst/>
          </a:prstGeom>
          <a:solidFill>
            <a:srgbClr val="FFE8CC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17373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66560" y="2084832"/>
            <a:ext cx="914400" cy="310896"/>
          </a:xfrm>
          <a:prstGeom prst="rect">
            <a:avLst/>
          </a:prstGeom>
          <a:solidFill>
            <a:srgbClr val="FFE8CC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0" y="20848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70k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726680" y="1097280"/>
            <a:ext cx="914400" cy="256032"/>
          </a:xfrm>
          <a:prstGeom prst="rect">
            <a:avLst/>
          </a:prstGeom>
          <a:solidFill>
            <a:srgbClr val="C8E6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26680" y="1097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726680" y="1389888"/>
            <a:ext cx="914400" cy="310896"/>
          </a:xfrm>
          <a:prstGeom prst="rect">
            <a:avLst/>
          </a:prstGeom>
          <a:solidFill>
            <a:srgbClr val="E8D5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26680" y="138988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26680" y="1737360"/>
            <a:ext cx="914400" cy="310896"/>
          </a:xfrm>
          <a:prstGeom prst="rect">
            <a:avLst/>
          </a:prstGeom>
          <a:solidFill>
            <a:srgbClr val="E8D5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26680" y="17373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726680" y="2084832"/>
            <a:ext cx="914400" cy="310896"/>
          </a:xfrm>
          <a:prstGeom prst="rect">
            <a:avLst/>
          </a:prstGeom>
          <a:solidFill>
            <a:srgbClr val="E8D5FF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26680" y="20848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846320" y="23042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AVG(salary)? Read only ONE column ✓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4320" y="27432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274320" y="274320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28163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sharing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57200" y="31272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buffer layout in Python, C++, Java, R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00400" y="27432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200400" y="274320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83280" y="28163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acceleration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3383280" y="31272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64-byte alignment enables AVX/SSE vectorized ops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126480" y="27432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126480" y="274320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09360" y="28163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serialization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309360" y="31272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between languages without converting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cpp/src/arrow/array/data.h — defines ArrayData struct (column memory layout)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Path: The IPC Write Path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685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685800"/>
            <a:ext cx="1600200" cy="292608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685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" y="6858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" y="1024128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pa.schema() + pa.record_batch()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164592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6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array/builder_primitive.h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37360" y="1298448"/>
            <a:ext cx="155448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7088" y="1234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01952" y="685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01952" y="685800"/>
            <a:ext cx="1600200" cy="292608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685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12848" y="6858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Writer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75104" y="1024128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ipc.new_file() → IpcFormatWriter::Start()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47672" y="164592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6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ipc/writer.cc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502152" y="1298448"/>
            <a:ext cx="155448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234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66744" y="685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66744" y="685800"/>
            <a:ext cx="1600200" cy="292608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685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6858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Bytes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39896" y="1024128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ARROW1\0\0 header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12464" y="164592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6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ipc/writer.cc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266944" y="1298448"/>
            <a:ext cx="155448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1234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31536" y="685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31536" y="685800"/>
            <a:ext cx="1600200" cy="292608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31536" y="685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42432" y="6858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Write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04688" y="1024128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Serializes RecordBatch buffers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77256" y="164592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6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ipc/writer.cc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031736" y="1298448"/>
            <a:ext cx="155448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41464" y="1234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96328" y="685800"/>
            <a:ext cx="1600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96328" y="685800"/>
            <a:ext cx="1600200" cy="292608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96328" y="685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07224" y="68580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+ Close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69480" y="1024128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offset table + closing magic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42048" y="1645920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6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ipc/writer.cc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74320" y="22128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IPC File Structure on Disk: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2542032"/>
            <a:ext cx="123444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2542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ARROW1\0\0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508760" y="2542032"/>
            <a:ext cx="1005840" cy="457200"/>
          </a:xfrm>
          <a:prstGeom prst="rect">
            <a:avLst/>
          </a:prstGeom>
          <a:solidFill>
            <a:srgbClr val="1E6F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08760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514600" y="2542032"/>
            <a:ext cx="1005840" cy="457200"/>
          </a:xfrm>
          <a:prstGeom prst="rect">
            <a:avLst/>
          </a:prstGeom>
          <a:solidFill>
            <a:srgbClr val="2386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520440" y="2542032"/>
            <a:ext cx="1005840" cy="457200"/>
          </a:xfrm>
          <a:prstGeom prst="rect">
            <a:avLst/>
          </a:prstGeom>
          <a:solidFill>
            <a:srgbClr val="2386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2542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26280" y="2542032"/>
            <a:ext cx="548640" cy="457200"/>
          </a:xfrm>
          <a:prstGeom prst="rect">
            <a:avLst/>
          </a:prstGeom>
          <a:solidFill>
            <a:srgbClr val="AAAAA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26280" y="2542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074920" y="2542032"/>
            <a:ext cx="9144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7492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989320" y="2542032"/>
            <a:ext cx="123444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89320" y="2542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ARROW1\0\0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3154680"/>
            <a:ext cx="85953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02920" y="324612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pyarrow </a:t>
            </a: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
</a:t>
            </a: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pyarrow.ipc </a:t>
            </a: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
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pa.schema([pa.field(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'id'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pa.int32())])
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 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ipc.new_file(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'output.arrow'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schema)     </a:t>
            </a:r>
            <a:r>
              <a:rPr lang="en-US" sz="950" i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IpcFormatWriter::Start() in writer.cc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Design Decisions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914400" cy="1261872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9144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731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Layout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731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1E6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cpp/src/arrow/array/data.h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25880" y="106984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93392" y="106984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touch few columns out of many — loading all columns is wasteful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25880" y="137160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57400" y="1371600"/>
            <a:ext cx="6601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updates touch multiple column files — bad for transactional workloads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75688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75688"/>
            <a:ext cx="914400" cy="126187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75688"/>
            <a:ext cx="9144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2588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64-byte Buffer Alignment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148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cpp/src/arrow/buffer.h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25880" y="248716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93392" y="248716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instructions (AVX-512) need aligned memory to process 512 bits at once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25880" y="278892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57400" y="2788920"/>
            <a:ext cx="6601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arrays waste memory due to padding even for 3-integer columns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493008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93008"/>
            <a:ext cx="914400" cy="12618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93008"/>
            <a:ext cx="9144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32588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Bytes in IPC Format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566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cpp/src/arrow/ipc/writer.cc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25880" y="39044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93392" y="390448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must verify a file is valid Arrow before parsing — prevents silent corruption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25880" y="4206240"/>
            <a:ext cx="7498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57400" y="4206240"/>
            <a:ext cx="6601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1-byte header corruption rejects the entire file, even if most data is intact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Mapping to DS614 Topics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4206240" cy="301752"/>
          </a:xfrm>
          <a:prstGeom prst="rect">
            <a:avLst/>
          </a:prstGeom>
          <a:solidFill>
            <a:srgbClr val="1E6FCC"/>
          </a:solidFill>
          <a:ln w="12700">
            <a:solidFill>
              <a:srgbClr val="1E6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04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Storage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is in-memory columnar format (like Parquet but for RAM). Each column stored in contiguous buffers with null bitmaps.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E6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type.h  ·  data.h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68580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685800"/>
            <a:ext cx="4206240" cy="30175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704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/ Ingestion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0515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supports IPC Stream format for incremental data (no footer). Same message structure as file format — just no end-magic.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7556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ipc/writer.cc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48840"/>
            <a:ext cx="4206240" cy="3017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167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5146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Dataset API supports directory-based partitioning (year=2024/month=01/). Columns used as partition keys map to directory names.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2186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python/pyarrow/dataset.py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48840"/>
            <a:ext cx="4206240" cy="3017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167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/ Fault Tolerance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5146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bytes at start and end verify file integrity. Missing footer (crash mid-write) = rejected. Corrupted header = rejected.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32186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ipc/reader.cc  ·  writer.cc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8595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8503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format (seekable, random access, has footer)
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 = ipc.new_file(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'data.arrow'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schema)    </a:t>
            </a: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Stream format (no footer, pipe-friendly)
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 = ipc.new_stream(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'data.arrows'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schema)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Modifying IpcWriteOptions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760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cpp/src/arrow/ipc/options.h  —  IpcWriteOptions struct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50392"/>
            <a:ext cx="411480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9611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LZ4 compression
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opts = ipc.IpcWriteOptions(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compression=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'lz4'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use_threads=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0" y="777240"/>
            <a:ext cx="429768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777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(100k rows)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78992"/>
            <a:ext cx="2194560" cy="292608"/>
          </a:xfrm>
          <a:prstGeom prst="rect">
            <a:avLst/>
          </a:prstGeom>
          <a:solidFill>
            <a:srgbClr val="1E6FCC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789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84848" y="1078992"/>
            <a:ext cx="1005840" cy="292608"/>
          </a:xfrm>
          <a:prstGeom prst="rect">
            <a:avLst/>
          </a:prstGeom>
          <a:solidFill>
            <a:srgbClr val="1E6FCC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0568" y="10789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18120" y="1078992"/>
            <a:ext cx="1005840" cy="292608"/>
          </a:xfrm>
          <a:prstGeom prst="rect">
            <a:avLst/>
          </a:prstGeom>
          <a:solidFill>
            <a:srgbClr val="1E6FCC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0789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389888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3898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compression (baseline)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84848" y="1389888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13898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~1.6 MB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818120" y="1389888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13898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700784"/>
            <a:ext cx="2194560" cy="29260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70078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LZ4 compression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84848" y="1700784"/>
            <a:ext cx="1005840" cy="29260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17007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 MB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18120" y="1700784"/>
            <a:ext cx="1005840" cy="29260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17007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ms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2011680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0116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Zstd compression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84848" y="2011680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0568" y="20116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 MB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818120" y="2011680"/>
            <a:ext cx="1005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20116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2322576"/>
            <a:ext cx="2194560" cy="29260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32257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 (no compress)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84848" y="2322576"/>
            <a:ext cx="1005840" cy="29260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0568" y="23225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~1.6 MB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818120" y="2322576"/>
            <a:ext cx="1005840" cy="292608"/>
          </a:xfrm>
          <a:prstGeom prst="rect">
            <a:avLst/>
          </a:prstGeom>
          <a:solidFill>
            <a:srgbClr val="F0F4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23225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ms</a:t>
            </a:r>
            <a:endParaRPr lang="en-US" sz="9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74320" y="21031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Shape 37"/>
          <p:cNvSpPr/>
          <p:nvPr/>
        </p:nvSpPr>
        <p:spPr>
          <a:xfrm>
            <a:off x="4572000" y="2670048"/>
            <a:ext cx="64008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54880" y="26700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LZ4 cuts size by ~44% with only 50% overhead — good trade-off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572000" y="3127248"/>
            <a:ext cx="64008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54880" y="3127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Zstd: best compression but ~3× slower — for archival, not hot data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572000" y="3584448"/>
            <a:ext cx="64008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54880" y="35844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threads adds ~80% write time with zero size benefit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572000" y="4041648"/>
            <a:ext cx="64008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54880" y="40416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codec logic: cpp/src/arrow/util/compression*.cc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Analysis: Two Failure Modes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217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1 — Process Crash During Write (No .close())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0292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 = ipc.new_file(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'crash_test.arrow'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schema)
writer.write_batch(batch)
</a:t>
            </a: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  </a:t>
            </a: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.close() = missing footer
# Output:
</a:t>
            </a: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size: 1584 bytes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Error: Not an Arrow file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0" y="914400"/>
            <a:ext cx="3383280" cy="114300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D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9601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23560" y="120700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IpcFormatWriter::Close() in writer.cc writes the footer + closing magic bytes. When the writer is destroyed without .close(), this never runs. The reader checks both magic bytes — end check fails → whole file rejected.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27432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94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2 — Magic Byte Corruption (Raw Binary Overwrite)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96312"/>
            <a:ext cx="50292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542032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'corrupt2.arrow'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'r+b'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f.seek(0)
f.write(b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'NOTARROW'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overwrite magic
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f.seek(size - 10)
f.write(b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'CORRUPTED'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 file size: 474 bytes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Failure 2 result: Not an Arrow file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2496312"/>
            <a:ext cx="3383280" cy="1371600"/>
          </a:xfrm>
          <a:prstGeom prst="rect">
            <a:avLst/>
          </a:prstGeom>
          <a:solidFill>
            <a:srgbClr val="F8D7DA"/>
          </a:solidFill>
          <a:ln w="12700">
            <a:solidFill>
              <a:srgbClr val="F5C2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5420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4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27889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IpcFormatReader::Open() in reader.cc reads the first 8 bytes and compares to the magic constant from Message.fbs. Any mismatch → Invalid status returned immediately.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intent: prevents non-Arrow or partially-written files from being silently parsed as valid data.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failures grounded in source: cpp/src/arrow/ipc/writer.cc  and  cpp/src/arrow/ipc/reader.cc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Contribution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1965960" cy="30175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5836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1783080" cy="13898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171907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--depth=1 --branch main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https://github.com/apache/arrow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40280" y="1417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41448" y="658368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658368"/>
            <a:ext cx="1965960" cy="30175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658368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34056" y="65836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32888" y="1005840"/>
            <a:ext cx="1783080" cy="13898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78608" y="1051560"/>
            <a:ext cx="171907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GH-DS614-tutorial-min-max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07408" y="1417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08576" y="658368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658368"/>
            <a:ext cx="1965960" cy="30175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658368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01184" y="65836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Function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0016" y="1005840"/>
            <a:ext cx="1783080" cy="13898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1051560"/>
            <a:ext cx="171907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Added tutorial_min_max()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 python/pyarrow/compute.py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74536" y="1417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75704" y="658368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75704" y="658368"/>
            <a:ext cx="1965960" cy="30175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75704" y="658368"/>
            <a:ext cx="274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68312" y="65836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(Arrow style)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67144" y="1005840"/>
            <a:ext cx="1783080" cy="13898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1051560"/>
            <a:ext cx="171907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"GH-DS614: [Python]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tutorial_min_max..."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633472"/>
            <a:ext cx="859536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6791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--no-pager log --oneline -3
</a:t>
            </a: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eefe8db94c </a:t>
            </a: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(HEAD -&gt; GH-DS614-tutorial-min-max) GH-DS614: [Python] Add tutorial_min_max...
</a:t>
            </a: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cc15bf1e83 </a:t>
            </a: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(origin/main) GH-49846: [CI][Python] fix test-conda-python-3.11...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493008"/>
            <a:ext cx="8595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387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Verification result:
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pc.min_max  : [(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'min'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1), (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'max'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6)]
Modified tutorial_min_max: min-= </a:t>
            </a: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max+= </a:t>
            </a: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off by 1 from actual min/max — shows kernel can be extended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What We Would Improve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3533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4864" cy="13533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4124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bytes are the single point of truth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21615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1-byte corruption in the first 8 bytes rejects an otherwise perfect file. Source: IpcFormatReader::Open() in reader.cc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14800" cy="13533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77240"/>
            <a:ext cx="54864" cy="13533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84124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is NOT a valid PyArrow 18 parameter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0328" y="121615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verified by reading options.h directly. The real parameters are compression and use_threads — docs can mislead, source code does not.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14800" cy="13533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54864" cy="13533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5000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bitmaps are stored separately from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72491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has an optional validity bitmap. Nulls don't use sentinel values like -1 or NaN, which protects real data from ambiguity.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114800" cy="13533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286000"/>
            <a:ext cx="54864" cy="13533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235000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Stream and File share the same message format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0328" y="2724912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difference is whether a footer and end-magic are written. Same write path, different Close() behavior.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858768"/>
            <a:ext cx="859536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136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improve: 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12848" y="391363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Add WAL/checkpoint for crash-safe large writes  •  (2) File-level checksum beyond magic bytes for silent bit-flip detection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24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6F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github.com/Prajapatikrishna123/DS614-Apache-Arrow-Columnar-Storage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1410</Words>
  <Application>Microsoft Office PowerPoint</Application>
  <PresentationFormat>On-screen Show (16:9)</PresentationFormat>
  <Paragraphs>205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DS614 - Apache Arrow Columnar Storage</dc:title>
  <dc:subject>PptxGenJS Presentation</dc:subject>
  <dc:creator>PptxGenJS</dc:creator>
  <cp:lastModifiedBy>Dell</cp:lastModifiedBy>
  <cp:revision>2</cp:revision>
  <dcterms:created xsi:type="dcterms:W3CDTF">2026-04-30T06:08:32Z</dcterms:created>
  <dcterms:modified xsi:type="dcterms:W3CDTF">2026-04-30T06:22:44Z</dcterms:modified>
</cp:coreProperties>
</file>